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67"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5" d="100"/>
          <a:sy n="65" d="100"/>
        </p:scale>
        <p:origin x="72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B935D7-D09F-05A8-14BC-C8E8522E8CF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C38D54D-03B5-108C-D06B-C45FE60BCF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FBBB889-8068-520B-2ED6-74B9D96F0A1B}"/>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5" name="Footer Placeholder 4">
            <a:extLst>
              <a:ext uri="{FF2B5EF4-FFF2-40B4-BE49-F238E27FC236}">
                <a16:creationId xmlns:a16="http://schemas.microsoft.com/office/drawing/2014/main" id="{94B52E77-75A6-BEE2-79D4-6A1C18190AA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3E0CDEB-6F8C-ACC2-9237-20A80CE6BF92}"/>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39371491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6CF8B-60B9-BA76-42B4-8D2F0DE5E30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48A10D71-D646-AC0C-8EBC-4DA21E9D604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F0514DA-2FEC-E309-A11B-1940B2912B60}"/>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5" name="Footer Placeholder 4">
            <a:extLst>
              <a:ext uri="{FF2B5EF4-FFF2-40B4-BE49-F238E27FC236}">
                <a16:creationId xmlns:a16="http://schemas.microsoft.com/office/drawing/2014/main" id="{ECABD2CF-7FAF-16E4-5F62-D31FB4D54C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CB6BE53-ED3B-4675-EFE2-929610F36132}"/>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32622648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30CD48-EDBF-C279-14B9-9B1E6454F3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7BED913-C659-A694-5EA7-E526BE6D877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818FA29-5116-28F5-2072-86C440AF0FA2}"/>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5" name="Footer Placeholder 4">
            <a:extLst>
              <a:ext uri="{FF2B5EF4-FFF2-40B4-BE49-F238E27FC236}">
                <a16:creationId xmlns:a16="http://schemas.microsoft.com/office/drawing/2014/main" id="{72D5700E-E472-8B0A-F587-E07752BBF45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38740D0-0896-652C-38FA-A7D0D1CA473A}"/>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39376472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A65FE-C4B3-1F72-BBF9-E16DCE95B60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3706A86-8090-95F5-B8A7-8F881C17C8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88098BA-6978-3068-4C67-8FCCB055ABC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458EAA0-319F-CCCD-56EF-CBFE1D68E023}"/>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6" name="Footer Placeholder 5">
            <a:extLst>
              <a:ext uri="{FF2B5EF4-FFF2-40B4-BE49-F238E27FC236}">
                <a16:creationId xmlns:a16="http://schemas.microsoft.com/office/drawing/2014/main" id="{5A01E827-5CF4-21F9-8843-C14D195EB05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4D6F660-254C-0F2B-64B7-8486652DB093}"/>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3504379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5C0E0-DCAB-F481-4FD1-F6861AA95541}"/>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94F90EF-E244-06C0-A2EC-21B00202961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505089-B67C-0AA2-626B-4A4DF2E12C3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19C7268-8EE2-8991-E77C-340D27153B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C2036CE-E755-3676-84B9-43CF3E7E191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F2C7D88-2425-3861-4F8A-65C9814345D1}"/>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8" name="Footer Placeholder 7">
            <a:extLst>
              <a:ext uri="{FF2B5EF4-FFF2-40B4-BE49-F238E27FC236}">
                <a16:creationId xmlns:a16="http://schemas.microsoft.com/office/drawing/2014/main" id="{2B6DD7A7-8DAD-F595-7713-7CE8B42C115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3C694A69-A088-0354-C23A-D95454609FD0}"/>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3858246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A99BA-597B-14CF-8C17-23ADC2AC6BF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3311583-FF5B-A486-6DDE-7FAF52F7CE5D}"/>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4" name="Footer Placeholder 3">
            <a:extLst>
              <a:ext uri="{FF2B5EF4-FFF2-40B4-BE49-F238E27FC236}">
                <a16:creationId xmlns:a16="http://schemas.microsoft.com/office/drawing/2014/main" id="{6143F592-8710-6C0A-A608-6EA4F95AB05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6B092719-687C-1823-6B0A-6D393B2FC8E9}"/>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423234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A59FD6C-79F0-2C3E-E6FC-301B18DBDB5D}"/>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3" name="Footer Placeholder 2">
            <a:extLst>
              <a:ext uri="{FF2B5EF4-FFF2-40B4-BE49-F238E27FC236}">
                <a16:creationId xmlns:a16="http://schemas.microsoft.com/office/drawing/2014/main" id="{E6CC3F6F-A576-C596-B48A-7E51DEAEEDBB}"/>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75A6B6D-389A-7F8E-AEF1-097DB1D101D7}"/>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25338987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D9218-DDEE-A6CB-B1AC-FBC62EE8FA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AC8896C-E5DA-848C-1880-DE13C4C5EE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0D7F3FF-6712-DCEF-4742-1FB1140E9A1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E28904-7C4B-2CFD-02F8-0E7DE14CF359}"/>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6" name="Footer Placeholder 5">
            <a:extLst>
              <a:ext uri="{FF2B5EF4-FFF2-40B4-BE49-F238E27FC236}">
                <a16:creationId xmlns:a16="http://schemas.microsoft.com/office/drawing/2014/main" id="{9B338154-48F7-874B-D2C8-A765B38F030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B30167A-73F5-69B8-0D71-6F62303ED667}"/>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21745269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5BCD0-F8D2-D9D3-4361-BCFF46D33E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4CE5415-B748-7941-B48C-5733B0590B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9ED0B76C-C4E3-8CC2-F6A5-34927DBD5F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7DA76F-E5D8-115B-94BE-C1C1C74696EB}"/>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6" name="Footer Placeholder 5">
            <a:extLst>
              <a:ext uri="{FF2B5EF4-FFF2-40B4-BE49-F238E27FC236}">
                <a16:creationId xmlns:a16="http://schemas.microsoft.com/office/drawing/2014/main" id="{6FDF3237-C3AB-ADEE-4687-C2F3D073356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82AE14C-D9B0-C9D9-745C-D1081B51F99D}"/>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7264329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C64C1-332B-06A6-3F03-7F7D2D6370A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2337652-BAD5-8A24-FD18-460E35B3D5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EF32F14-9D5D-862E-A5BE-67E596ADABB7}"/>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5" name="Footer Placeholder 4">
            <a:extLst>
              <a:ext uri="{FF2B5EF4-FFF2-40B4-BE49-F238E27FC236}">
                <a16:creationId xmlns:a16="http://schemas.microsoft.com/office/drawing/2014/main" id="{8EA03104-CD94-EFE8-80F6-67E13BC6B5F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976509F-022E-2AC2-D4C4-D356A46AAD6F}"/>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11062811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585F94-F15D-70AF-B0BE-4EF1ED4447D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6D488C5-DBB5-3C41-2542-A9E044AFC3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F7AC787-B346-4635-F8EB-98AB55B7B24F}"/>
              </a:ext>
            </a:extLst>
          </p:cNvPr>
          <p:cNvSpPr>
            <a:spLocks noGrp="1"/>
          </p:cNvSpPr>
          <p:nvPr>
            <p:ph type="dt" sz="half" idx="10"/>
          </p:nvPr>
        </p:nvSpPr>
        <p:spPr/>
        <p:txBody>
          <a:bodyPr/>
          <a:lstStyle/>
          <a:p>
            <a:fld id="{F3AC5B28-FB4C-4138-B1A1-9B9FEC97738E}" type="datetimeFigureOut">
              <a:rPr lang="en-IN" smtClean="0"/>
              <a:t>06-07-2026</a:t>
            </a:fld>
            <a:endParaRPr lang="en-IN"/>
          </a:p>
        </p:txBody>
      </p:sp>
      <p:sp>
        <p:nvSpPr>
          <p:cNvPr id="5" name="Footer Placeholder 4">
            <a:extLst>
              <a:ext uri="{FF2B5EF4-FFF2-40B4-BE49-F238E27FC236}">
                <a16:creationId xmlns:a16="http://schemas.microsoft.com/office/drawing/2014/main" id="{973949CD-9970-6604-3D33-20AD77DFFC3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EB5AC0E-7AB0-C4DB-6BBB-225F60D1B083}"/>
              </a:ext>
            </a:extLst>
          </p:cNvPr>
          <p:cNvSpPr>
            <a:spLocks noGrp="1"/>
          </p:cNvSpPr>
          <p:nvPr>
            <p:ph type="sldNum" sz="quarter" idx="12"/>
          </p:nvPr>
        </p:nvSpPr>
        <p:spPr/>
        <p:txBody>
          <a:bodyPr/>
          <a:lstStyle/>
          <a:p>
            <a:fld id="{93F647AE-FD0F-47AC-806B-0B0AB0A750BB}" type="slidenum">
              <a:rPr lang="en-IN" smtClean="0"/>
              <a:t>‹#›</a:t>
            </a:fld>
            <a:endParaRPr lang="en-IN"/>
          </a:p>
        </p:txBody>
      </p:sp>
    </p:spTree>
    <p:extLst>
      <p:ext uri="{BB962C8B-B14F-4D97-AF65-F5344CB8AC3E}">
        <p14:creationId xmlns:p14="http://schemas.microsoft.com/office/powerpoint/2010/main" val="21086671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7B3552-A4FE-3344-13A5-E5E1036AE5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38AE902-91F1-9DAE-643A-D1AB58EEEF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4CA34FA-322D-813A-E5D3-707E3482BA4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AC5B28-FB4C-4138-B1A1-9B9FEC97738E}" type="datetimeFigureOut">
              <a:rPr lang="en-IN" smtClean="0"/>
              <a:t>06-07-2026</a:t>
            </a:fld>
            <a:endParaRPr lang="en-IN"/>
          </a:p>
        </p:txBody>
      </p:sp>
      <p:sp>
        <p:nvSpPr>
          <p:cNvPr id="5" name="Footer Placeholder 4">
            <a:extLst>
              <a:ext uri="{FF2B5EF4-FFF2-40B4-BE49-F238E27FC236}">
                <a16:creationId xmlns:a16="http://schemas.microsoft.com/office/drawing/2014/main" id="{19059B65-A2A0-B78C-4EBD-2F8836E450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CB6DAF9-9005-6FE2-007C-B1BE170974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3F647AE-FD0F-47AC-806B-0B0AB0A750BB}" type="slidenum">
              <a:rPr lang="en-IN" smtClean="0"/>
              <a:t>‹#›</a:t>
            </a:fld>
            <a:endParaRPr lang="en-IN"/>
          </a:p>
        </p:txBody>
      </p:sp>
    </p:spTree>
    <p:extLst>
      <p:ext uri="{BB962C8B-B14F-4D97-AF65-F5344CB8AC3E}">
        <p14:creationId xmlns:p14="http://schemas.microsoft.com/office/powerpoint/2010/main" val="2438485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52098-352D-DB6F-8C29-B43E296DC0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495127-6B68-0772-CE81-A91BEB280205}"/>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Semantic &amp; Agentic AI Architecture-GCP</a:t>
            </a:r>
          </a:p>
        </p:txBody>
      </p:sp>
      <p:pic>
        <p:nvPicPr>
          <p:cNvPr id="7" name="Picture 6">
            <a:extLst>
              <a:ext uri="{FF2B5EF4-FFF2-40B4-BE49-F238E27FC236}">
                <a16:creationId xmlns:a16="http://schemas.microsoft.com/office/drawing/2014/main" id="{FA742710-624B-53F4-8404-FAA4E41C8E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532" y="1514575"/>
            <a:ext cx="11090786" cy="5250018"/>
          </a:xfrm>
          <a:prstGeom prst="rect">
            <a:avLst/>
          </a:prstGeom>
        </p:spPr>
      </p:pic>
    </p:spTree>
    <p:extLst>
      <p:ext uri="{BB962C8B-B14F-4D97-AF65-F5344CB8AC3E}">
        <p14:creationId xmlns:p14="http://schemas.microsoft.com/office/powerpoint/2010/main" val="2493371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A1028-9744-8677-D0D6-66A2462EB7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F9CDF-E333-254F-0FB1-109BCAF207D0}"/>
              </a:ext>
            </a:extLst>
          </p:cNvPr>
          <p:cNvGraphicFramePr>
            <a:graphicFrameLocks noGrp="1"/>
          </p:cNvGraphicFramePr>
          <p:nvPr/>
        </p:nvGraphicFramePr>
        <p:xfrm>
          <a:off x="802076" y="462119"/>
          <a:ext cx="9553950" cy="6653852"/>
        </p:xfrm>
        <a:graphic>
          <a:graphicData uri="http://schemas.openxmlformats.org/drawingml/2006/table">
            <a:tbl>
              <a:tblPr firstRow="1" bandRow="1">
                <a:tableStyleId>{5C22544A-7EE6-4342-B048-85BDC9FD1C3A}</a:tableStyleId>
              </a:tblPr>
              <a:tblGrid>
                <a:gridCol w="2858446">
                  <a:extLst>
                    <a:ext uri="{9D8B030D-6E8A-4147-A177-3AD203B41FA5}">
                      <a16:colId xmlns:a16="http://schemas.microsoft.com/office/drawing/2014/main" val="3070651678"/>
                    </a:ext>
                  </a:extLst>
                </a:gridCol>
                <a:gridCol w="6695504">
                  <a:extLst>
                    <a:ext uri="{9D8B030D-6E8A-4147-A177-3AD203B41FA5}">
                      <a16:colId xmlns:a16="http://schemas.microsoft.com/office/drawing/2014/main" val="2373146469"/>
                    </a:ext>
                  </a:extLst>
                </a:gridCol>
              </a:tblGrid>
              <a:tr h="488492">
                <a:tc>
                  <a:txBody>
                    <a:bodyPr/>
                    <a:lstStyle/>
                    <a:p>
                      <a:pPr algn="l"/>
                      <a:r>
                        <a:rPr lang="en-US" sz="1300" dirty="0">
                          <a:latin typeface="+mn-lt"/>
                        </a:rPr>
                        <a:t>Section</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1"/>
                    </a:solidFill>
                  </a:tcPr>
                </a:tc>
                <a:tc>
                  <a:txBody>
                    <a:bodyPr/>
                    <a:lstStyle/>
                    <a:p>
                      <a:pPr algn="l"/>
                      <a:r>
                        <a:rPr lang="en-US" sz="1300" dirty="0">
                          <a:latin typeface="+mn-lt"/>
                        </a:rPr>
                        <a:t>Description</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3754733360"/>
                  </a:ext>
                </a:extLst>
              </a:tr>
              <a:tr h="566128">
                <a:tc>
                  <a:txBody>
                    <a:bodyPr/>
                    <a:lstStyle/>
                    <a:p>
                      <a:pPr algn="l"/>
                      <a:r>
                        <a:rPr lang="en-US" sz="1300" b="0" dirty="0">
                          <a:solidFill>
                            <a:schemeClr val="tx1"/>
                          </a:solidFill>
                          <a:latin typeface="+mn-lt"/>
                        </a:rPr>
                        <a:t>Grounded Answer generation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lgn="l"/>
                      <a:r>
                        <a:rPr lang="en-US" sz="1300" b="0" dirty="0">
                          <a:solidFill>
                            <a:schemeClr val="tx1"/>
                          </a:solidFill>
                          <a:latin typeface="+mn-lt"/>
                        </a:rPr>
                        <a:t>This component transforms retrieved semantic or document context into a final grounded response. It is the stage where retrieved evidence is assembled into a user-facing answer, ensuring the platform returns an interpreted response</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586605986"/>
                  </a:ext>
                </a:extLst>
              </a:tr>
              <a:tr h="459325">
                <a:tc>
                  <a:txBody>
                    <a:bodyPr/>
                    <a:lstStyle/>
                    <a:p>
                      <a:pPr algn="l"/>
                      <a:r>
                        <a:rPr lang="en-US" sz="1300" b="0" dirty="0">
                          <a:solidFill>
                            <a:schemeClr val="tx1"/>
                          </a:solidFill>
                          <a:latin typeface="+mn-lt"/>
                        </a:rPr>
                        <a:t>Cloud Storage (for citation)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tc>
                  <a:txBody>
                    <a:bodyPr/>
                    <a:lstStyle/>
                    <a:p>
                      <a:pPr marL="0" indent="0" algn="l">
                        <a:buNone/>
                      </a:pPr>
                      <a:r>
                        <a:rPr lang="en-US" sz="1300" b="0" dirty="0">
                          <a:solidFill>
                            <a:schemeClr val="tx1"/>
                          </a:solidFill>
                          <a:latin typeface="+mn-lt"/>
                          <a:cs typeface="Arial" pitchFamily="34" charset="0"/>
                        </a:rPr>
                        <a:t>For Talk to doc ,Cloud Storage represents the source location for citation-backed content on the document-search path. It supports retrieval and grounding by providing the persistent file-level or chunk-level content that can be cited, referenced, and used for evidence-based answers</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11861164"/>
                  </a:ext>
                </a:extLst>
              </a:tr>
              <a:tr h="8229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b="0" dirty="0">
                          <a:solidFill>
                            <a:schemeClr val="tx1"/>
                          </a:solidFill>
                          <a:latin typeface="+mn-lt"/>
                        </a:rPr>
                        <a:t>Agent Memory – History cache / Feedback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b="0" dirty="0">
                          <a:solidFill>
                            <a:schemeClr val="tx1"/>
                          </a:solidFill>
                          <a:latin typeface="+mn-lt"/>
                          <a:cs typeface="Arial" pitchFamily="34" charset="0"/>
                        </a:rPr>
                        <a:t>This memory store captures conversational history and feedback needed for continuity, learning, and interaction tracking. It allows the runtime to reuse prior session context and user feedback signals during ongoing interactions.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38201352"/>
                  </a:ext>
                </a:extLst>
              </a:tr>
              <a:tr h="642916">
                <a:tc>
                  <a:txBody>
                    <a:bodyPr/>
                    <a:lstStyle/>
                    <a:p>
                      <a:pPr algn="l"/>
                      <a:r>
                        <a:rPr lang="en-US" sz="1300" b="0" dirty="0">
                          <a:solidFill>
                            <a:schemeClr val="tx1"/>
                          </a:solidFill>
                          <a:latin typeface="+mn-lt"/>
                        </a:rPr>
                        <a:t>Agent Memory – System Prompts / Policies / DB config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lgn="l"/>
                      <a:r>
                        <a:rPr lang="en-US" sz="1300" b="0" dirty="0">
                          <a:solidFill>
                            <a:schemeClr val="tx1"/>
                          </a:solidFill>
                          <a:latin typeface="+mn-lt"/>
                        </a:rPr>
                        <a:t>This memory/config store contains runtime prompt definitions, policy context, and database configuration dependencies that shape agent behavior. It provides the control inputs that help the orchestrator and agent layer behave consistently, securely, and according to platform rules.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959972249"/>
                  </a:ext>
                </a:extLst>
              </a:tr>
              <a:tr h="646516">
                <a:tc>
                  <a:txBody>
                    <a:bodyPr/>
                    <a:lstStyle/>
                    <a:p>
                      <a:pPr marL="0" algn="l" defTabSz="914400" rtl="0" eaLnBrk="1" latinLnBrk="0" hangingPunct="1"/>
                      <a:r>
                        <a:rPr lang="en-US" sz="1300" b="0" kern="1200" dirty="0">
                          <a:solidFill>
                            <a:schemeClr val="tx1"/>
                          </a:solidFill>
                          <a:latin typeface="+mn-lt"/>
                          <a:ea typeface="+mn-ea"/>
                          <a:cs typeface="+mn-cs"/>
                        </a:rPr>
                        <a:t>Agent Memory – Session cache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lgn="l"/>
                      <a:r>
                        <a:rPr lang="en-US" sz="1300" b="0" dirty="0">
                          <a:solidFill>
                            <a:schemeClr val="tx1"/>
                          </a:solidFill>
                          <a:latin typeface="+mn-lt"/>
                        </a:rPr>
                        <a:t>The session cache holds short-lived runtime context needed for active interaction continuity. It improves responsiveness and keeps current-session state available without re-resolving every context dependency on each step.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20317552"/>
                  </a:ext>
                </a:extLst>
              </a:tr>
              <a:tr h="593404">
                <a:tc>
                  <a:txBody>
                    <a:bodyPr/>
                    <a:lstStyle/>
                    <a:p>
                      <a:pPr algn="l"/>
                      <a:r>
                        <a:rPr lang="en-US" sz="1300" b="0" dirty="0">
                          <a:solidFill>
                            <a:schemeClr val="tx1"/>
                          </a:solidFill>
                          <a:latin typeface="+mn-lt"/>
                        </a:rPr>
                        <a:t>Secret Manager</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lgn="l"/>
                      <a:r>
                        <a:rPr lang="en-US" sz="1300" b="0" dirty="0">
                          <a:solidFill>
                            <a:schemeClr val="tx1"/>
                          </a:solidFill>
                          <a:latin typeface="+mn-lt"/>
                        </a:rPr>
                        <a:t>Secret Manager supplies credentials and protected configuration required for secure backend access. It is shown as a shared runtime dependency because orchestration and agent execution need secure secrets to interact with enterprise systems, APIs, and platform services</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04862707"/>
                  </a:ext>
                </a:extLst>
              </a:tr>
              <a:tr h="956440">
                <a:tc>
                  <a:txBody>
                    <a:bodyPr/>
                    <a:lstStyle/>
                    <a:p>
                      <a:pPr marL="0" algn="l" defTabSz="914400" rtl="0" eaLnBrk="1" latinLnBrk="0" hangingPunct="1"/>
                      <a:r>
                        <a:rPr lang="en-US" sz="1300" b="0" kern="1200" dirty="0">
                          <a:solidFill>
                            <a:schemeClr val="tx1"/>
                          </a:solidFill>
                          <a:latin typeface="+mn-lt"/>
                          <a:ea typeface="+mn-ea"/>
                          <a:cs typeface="+mn-cs"/>
                        </a:rPr>
                        <a:t>Operations</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tc>
                  <a:txBody>
                    <a:bodyPr/>
                    <a:lstStyle/>
                    <a:p>
                      <a:pPr algn="l"/>
                      <a:r>
                        <a:rPr lang="en-US" sz="1300" b="0" dirty="0">
                          <a:solidFill>
                            <a:schemeClr val="tx1"/>
                          </a:solidFill>
                          <a:latin typeface="+mn-lt"/>
                        </a:rPr>
                        <a:t>The Operations block represents the hosting and observability model for the intelligent agent runtime. Cloud Run provides the execution environment for services, while agent observability captures logs, telemetry, and runtime health needed for production operations. </a:t>
                      </a:r>
                    </a:p>
                  </a:txBody>
                  <a:tcPr marL="81980" marR="81980" marT="81980" marB="81980" anchor="ct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774438683"/>
                  </a:ext>
                </a:extLst>
              </a:tr>
            </a:tbl>
          </a:graphicData>
        </a:graphic>
      </p:graphicFrame>
      <p:sp>
        <p:nvSpPr>
          <p:cNvPr id="7" name="Title 1">
            <a:extLst>
              <a:ext uri="{FF2B5EF4-FFF2-40B4-BE49-F238E27FC236}">
                <a16:creationId xmlns:a16="http://schemas.microsoft.com/office/drawing/2014/main" id="{E91D966C-2CBA-5B20-A17F-7551A2EACD8C}"/>
              </a:ext>
            </a:extLst>
          </p:cNvPr>
          <p:cNvSpPr txBox="1">
            <a:spLocks/>
          </p:cNvSpPr>
          <p:nvPr/>
        </p:nvSpPr>
        <p:spPr>
          <a:xfrm>
            <a:off x="425245" y="11166"/>
            <a:ext cx="10515600" cy="539443"/>
          </a:xfrm>
          <a:prstGeom prst="rect">
            <a:avLst/>
          </a:prstGeom>
        </p:spPr>
        <p:txBody>
          <a:bodyPr vert="horz" lIns="91440" tIns="45720" rIns="91440" bIns="45720" rtlCol="0" anchor="b">
            <a:normAutofit fontScale="60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Semantic &amp; Agentic AI Architecture-GCP</a:t>
            </a:r>
            <a:endParaRPr lang="en-IN" dirty="0"/>
          </a:p>
        </p:txBody>
      </p:sp>
    </p:spTree>
    <p:extLst>
      <p:ext uri="{BB962C8B-B14F-4D97-AF65-F5344CB8AC3E}">
        <p14:creationId xmlns:p14="http://schemas.microsoft.com/office/powerpoint/2010/main" val="8884800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315</Words>
  <Application>Microsoft Office PowerPoint</Application>
  <PresentationFormat>Widescreen</PresentationFormat>
  <Paragraphs>18</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Semantic &amp; Agentic AI Architecture-GCP</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Bibek</dc:creator>
  <cp:lastModifiedBy>Bibek</cp:lastModifiedBy>
  <cp:revision>2</cp:revision>
  <dcterms:created xsi:type="dcterms:W3CDTF">2026-07-06T08:21:57Z</dcterms:created>
  <dcterms:modified xsi:type="dcterms:W3CDTF">2026-07-06T08:23:09Z</dcterms:modified>
</cp:coreProperties>
</file>